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54864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 BIKE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 Rebalancing Optimization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Stern — B60.2350 Decision Models &amp; Analytics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Juran  |  Spring 2026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Garofalo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02920" cy="384048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41732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023360" y="1234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stations become imbalanced daily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02920" cy="384048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737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23360" y="17373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of real trip data, demand profiling, distribution fitting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502920" cy="384048"/>
          </a:xfrm>
          <a:prstGeom prst="rect">
            <a:avLst/>
          </a:prstGeom>
          <a:solidFill>
            <a:srgbClr val="1A6FB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402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240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operations, opportunity cost of inaction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502920" cy="384048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43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743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23360" y="2743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TSP-based truck routing for minimum cost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502920" cy="384048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3246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23360" y="32461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5,000-trial Monte Carlo with stochastic demand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502920" cy="3840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490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3749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23360" y="37490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trucks is enough?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4251960"/>
            <a:ext cx="502920" cy="3840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2519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251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023360" y="4251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REBALANCING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Rush (7–9 AM)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stations empty out as commuters ride to work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Midtown stations overflow as bikes arrive faster than they leave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stations → lost revenue. Full stations → frustrated riders.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Fix (12–5 AM)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7830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Lyft deploys trucks to redistribute bikes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from overstocked stations, drop off at understocked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How many trucks, which stations, what cost?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Inspiration: Alibaba &amp; Meituan solve this exact problem for shared bikes in China at massive scale.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65960" cy="237744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$7,494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4688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opportunity 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 rebalancing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280160"/>
            <a:ext cx="1965960" cy="237744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4630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2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$225K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0" y="24688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lost revenue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dissatisfaction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1965960" cy="237744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4630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6F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3,549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92040" y="24688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that need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each night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1280160"/>
            <a:ext cx="1965960" cy="237744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463040"/>
            <a:ext cx="1965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040880" y="246888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in study area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(Manhattan &lt; 59th St)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44.6 million real Citi Bike trips (Apr 2025 – Mar 2026).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3657600" cy="13716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Bike S3 trip data (Apr 2025 – Mar 2026)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GBFS live station feed (real-time)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44.6M trips across 386 stations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43000"/>
            <a:ext cx="3657600" cy="13716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554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below 59th Street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 stations, full 12-month coverage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core commuter corridor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234440" cy="822960"/>
          </a:xfrm>
          <a:prstGeom prst="rect">
            <a:avLst/>
          </a:prstGeom>
          <a:solidFill>
            <a:srgbClr val="1A6FB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9260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91640" y="3337560"/>
            <a:ext cx="18288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2926080"/>
            <a:ext cx="1234440" cy="822960"/>
          </a:xfrm>
          <a:prstGeom prst="rect">
            <a:avLst/>
          </a:prstGeom>
          <a:solidFill>
            <a:srgbClr val="1A6FB5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74520" y="29260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3337560"/>
            <a:ext cx="18288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926080"/>
            <a:ext cx="1234440" cy="822960"/>
          </a:xfrm>
          <a:prstGeom prst="rect">
            <a:avLst/>
          </a:prstGeom>
          <a:solidFill>
            <a:srgbClr val="E8792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29260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3337560"/>
            <a:ext cx="18288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926080"/>
            <a:ext cx="1234440" cy="822960"/>
          </a:xfrm>
          <a:prstGeom prst="rect">
            <a:avLst/>
          </a:prstGeom>
          <a:solidFill>
            <a:srgbClr val="E8792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29260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337560"/>
            <a:ext cx="18288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926080"/>
            <a:ext cx="1234440" cy="822960"/>
          </a:xfrm>
          <a:prstGeom prst="rect">
            <a:avLst/>
          </a:prstGeom>
          <a:solidFill>
            <a:srgbClr val="0C23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29260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60920" y="3337560"/>
            <a:ext cx="18288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2926080"/>
            <a:ext cx="1234440" cy="822960"/>
          </a:xfrm>
          <a:prstGeom prst="rect">
            <a:avLst/>
          </a:prstGeom>
          <a:solidFill>
            <a:srgbClr val="0C23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43800" y="29260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Techniques: Solver (LP/IP)  •  Network Models  •  Crystal Ball  •  SolverTable  •  Efficient Frontier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PROFILING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peak (7–9 AM): Fitted Poisson &amp; Normal distributions to each station’s daily departures across 12 months</a:t>
            </a:r>
            <a:endParaRPr lang="en-US" sz="1300" dirty="0"/>
          </a:p>
        </p:txBody>
      </p:sp>
      <p:pic>
        <p:nvPicPr>
          <p:cNvPr id="4" name="Image 0" descr="/sessions/relaxed-tender-sagan/mnt/nyu-dma-citibike/figures/01_deman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STATION DISTRIBUTIONS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departure histograms for the 6 busiest stations — Poisson (green) and Normal (red) fits overlaid</a:t>
            </a:r>
            <a:endParaRPr lang="en-US" sz="1300" dirty="0"/>
          </a:p>
        </p:txBody>
      </p:sp>
      <p:pic>
        <p:nvPicPr>
          <p:cNvPr id="4" name="Image 0" descr="/sessions/relaxed-tender-sagan/mnt/nyu-dma-citibike/figures/02_station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Rebalancing Costs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691640"/>
          <a:ext cx="3383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FB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cost / truck / night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cost / mile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wage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$35/hr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Overtime (&gt;8 hrs)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bikes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$3.80/gal @ 8 mpg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Load/unload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min/stop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18872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92040" y="1280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Costs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691640"/>
          <a:ext cx="3383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92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trip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$4.50/trip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Dissatisfaction penalty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$2.00/trip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damage multiplier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per unmet trip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are editable in the Excel workbook — Juran can adjust and re-run scenarios.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IMBALANCE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inventory vs. morning target — who needs bikes and who has too many?</a:t>
            </a:r>
            <a:endParaRPr lang="en-US" sz="1300" dirty="0"/>
          </a:p>
        </p:txBody>
      </p:sp>
      <p:pic>
        <p:nvPicPr>
          <p:cNvPr id="4" name="Image 0" descr="/sessions/relaxed-tender-sagan/mnt/nyu-dma-citibike/figures/03_imbalance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859536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4206240"/>
            <a:ext cx="2286000" cy="7772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42062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163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737360" y="4206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Suppliers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0" y="4206240"/>
            <a:ext cx="2286000" cy="7772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0" y="42062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F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480560" y="4206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Receivers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4206240"/>
            <a:ext cx="2286000" cy="7772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0" y="42062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3,549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223760" y="42062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Bikes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TRUCK ROUTING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TSP + 2-opt improvement heuristic with geographic clustering by longitude.</a:t>
            </a:r>
            <a:endParaRPr lang="en-US" sz="1300" dirty="0"/>
          </a:p>
        </p:txBody>
      </p:sp>
      <p:pic>
        <p:nvPicPr>
          <p:cNvPr id="4" name="Image 0" descr="/sessions/relaxed-tender-sagan/mnt/nyu-dma-citibike/figures/04_optimal_rou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 CARLO SIMULATION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trials with stochastic demand (Poisson), weather effects, and day-of-week variation</a:t>
            </a:r>
            <a:endParaRPr lang="en-US" sz="1300" dirty="0"/>
          </a:p>
        </p:txBody>
      </p:sp>
      <p:pic>
        <p:nvPicPr>
          <p:cNvPr id="4" name="Image 0" descr="/sessions/relaxed-tender-sagan/mnt/nyu-dma-citibike/figures/05_simulation_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EFFICIENT FRONTIER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next truck worth it?” — SolverTable-style sweep of 1–8 trucks, each with 2,000 simulation trials.</a:t>
            </a:r>
            <a:endParaRPr lang="en-US" sz="1300" dirty="0"/>
          </a:p>
        </p:txBody>
      </p:sp>
      <p:pic>
        <p:nvPicPr>
          <p:cNvPr id="4" name="Image 0" descr="/sessions/relaxed-tender-sagan/mnt/nyu-dma-citibike/figures/06_efficient_fron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Tornado diagram: which parameters drive total cost the most? Truck capacity, driver wage, and fuel cost swept.</a:t>
            </a:r>
            <a:endParaRPr lang="en-US" sz="1300" dirty="0"/>
          </a:p>
        </p:txBody>
      </p:sp>
      <p:pic>
        <p:nvPicPr>
          <p:cNvPr id="4" name="Image 0" descr="/sessions/relaxed-tender-sagan/mnt/nyu-dma-citibike/figures/07_sensitivity_torn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280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1 truck nightly — highest ROI on the efficient frontier.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 service level  •  $4,614/night cost  •  63 miles  •  52% probability of positive net benefit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With 386 stations, the system’s natural flow diversity provides strong baseline service.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Adding trucks yields diminishing marginal returns — each additional truck adds ~0.1% service at $300+/night.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solidFill>
            <a:srgbClr val="1A4A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108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truck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 service, −$708 net/night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3108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ROI — least negative net cost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trucks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6888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 service, −$1,473 net/night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3749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service gain, higher cost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891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trucks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4389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96.3% service, −$3,425 net/night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4389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returns, 1% chance of positive net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FURTHER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limited to Manhattan &lt; 59th 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routing (NN + 2-opt), not exact MIP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traffic or road closure modeling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homogeneous truck fleet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 estimates are conservative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80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of Manhattan / Brooklyn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MIP solver (Gurobi / CPLEX) for routing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e-bike charging logistics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 integration for adaptive planning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Multi-objective: service + equity + sustainability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E879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Garofalo  |  pgaro1ks@stern.nyu.edu</a:t>
            </a: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github.com/pgaro1ks/nyu-dma-citibike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with editable Solver parameters available in submission.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Citi Bike Overnight Rebalancing Optimization</dc:title>
  <dc:subject>PptxGenJS Presentation</dc:subject>
  <dc:creator>Paul Garofalo</dc:creator>
  <cp:lastModifiedBy>Paul Garofalo</cp:lastModifiedBy>
  <cp:revision>1</cp:revision>
  <dcterms:created xsi:type="dcterms:W3CDTF">2026-03-31T21:50:08Z</dcterms:created>
  <dcterms:modified xsi:type="dcterms:W3CDTF">2026-03-31T21:50:08Z</dcterms:modified>
</cp:coreProperties>
</file>