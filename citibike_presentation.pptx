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 BIKE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 Rebalancing Optimization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Models Approach to Fleet Routing &amp; Stochastic Demand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286000" cy="2743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Garofalo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B60.2350 Decision Models &amp; Analytics  |  Prof. Juran  |  Spring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School of Business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bike-sharing rebalancing problem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727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Study Area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1572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44.6M trips, 386 stations, 12 months of real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1984248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482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0482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Profiling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20482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&amp; Normal distribution fitting, station classification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459736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237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25237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inventory estimation, morning targets, cost of inaction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935224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992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2999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TSP-based truck routing with geographic clustering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410712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74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5,000-trial stochastic demand modeling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886200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502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97680" y="3950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frontier, tornado diagrams, parameter sweeps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361688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4256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" y="4425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Conclusions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97680" y="44256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fleet size and deployment strategy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REBALANCING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Bike-sharing systems face a fundamental asymmetry: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ride from residential areas to business districts in the morning, creating station-level imbalances overnight.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rebalancing, morning commuters find empty docks at high-demand stations and full docks at destinations — leading to lost trips, frustrated riders, and revenue erosion.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overnight rebalancing window (12 AM – 5 AM) is the only practical time to redistribute bikes across the network using trucks.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3017520" cy="301752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6916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trucks should Citi Bike deploy each night, and what routes should they follow, to maximize morning service while minimizing operational cost?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Heuristics (NN + 2-opt)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Poisson/Normal Demand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(5K trials)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Efficient Frontier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3774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44.6M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Processed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 2025 – Mar 2026)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188720"/>
            <a:ext cx="237744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88720"/>
            <a:ext cx="23774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$225K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Bike is the largest bike-sharing system in the United States. Every morning, thousands of New Yorkers depend on bikes being available at their nearest station. Our analysis covers a full 12-month cycle across Manhattan below 59th Street — the system's densest and most commercially critical zone.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scope: 51 trip data files, 12 months, Manhattan south of 59th St, 7–9 AM morning peak window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02336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Bike S3 bucket — 51 CSVs, GBFS live station feed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40233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Metadata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→ short_name remapping, study area filtering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402336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116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011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Profiling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flows, Poisson/Normal fits, station classification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40233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4688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4688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inventory, morning targets, opportunity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8229600" cy="402336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260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29260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9260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clustering, NN-TSP + 2-opt improvement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40233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383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3832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3832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stochastic trials, weather &amp; day-of-week effects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402336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40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38404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840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frontier, tornado diagram, parameter sweeps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8229600" cy="40233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976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4297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42976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3,100+ formulas, formula-linked sheets, SolverTable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PROFILING</a:t>
            </a:r>
            <a:endParaRPr lang="en-US" sz="2800" dirty="0"/>
          </a:p>
        </p:txBody>
      </p:sp>
      <p:pic>
        <p:nvPicPr>
          <p:cNvPr id="5" name="Image 0" descr="/sessions/relaxed-tender-sagan/mnt/nyu-dma-citibike/figures/01_deman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952" y="1051560"/>
            <a:ext cx="4638095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hourly demand patterns across 386 study-area stations. Clear AM/PM commuting asymmetry drives the rebalancing need.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DISTRIBUTIONS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fit Poisson and Normal distributions to morning departure counts at each station. The Poisson model captures the discrete, count-based nature of bike departures, while the Normal provides a continuous approximation for high-volume stations.</a:t>
            </a:r>
            <a:endParaRPr lang="en-US" sz="1150" dirty="0"/>
          </a:p>
        </p:txBody>
      </p:sp>
      <p:pic>
        <p:nvPicPr>
          <p:cNvPr id="6" name="Image 0" descr="/sessions/relaxed-tender-sagan/mnt/nyu-dma-citibike/figures/02_station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114" y="1691640"/>
            <a:ext cx="4981772" cy="2468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stations by morning departures — empirical histograms overlaid with fitted Poisson (green dashed) and Normal (red solid) distributions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STATION CLASSIFICATION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are classified by their average morning net flow (arrivals minus departures) during the 7–9 AM peak: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863840" cy="8686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64008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Suppliers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1673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 stations (42%)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departures than arrivals — bikes leave in the morning. Concentrated in residential neighborhoods (Upper East/West, Village).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7863840" cy="8686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51760"/>
            <a:ext cx="64008" cy="86868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Receivers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2724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 stations (41%)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0632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arrivals than departures — bikes accumulate in the morning. Located in business districts (Midtown, FiDi, Hudson Yards).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64008" cy="8686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76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3464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stations (16%)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equal flow in both directions. Typically mixed-use areas or transit hubs with bidirectional commuting.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IMBALANCE ANALYSIS</a:t>
            </a:r>
            <a:endParaRPr lang="en-US" sz="2800" dirty="0"/>
          </a:p>
        </p:txBody>
      </p:sp>
      <p:pic>
        <p:nvPicPr>
          <p:cNvPr id="5" name="Image 0" descr="/sessions/relaxed-tender-sagan/mnt/nyu-dma-citibike/figures/03_imbalanc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10" y="1051560"/>
            <a:ext cx="692798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52044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520440"/>
            <a:ext cx="23774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1,631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to Pick Up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352044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3520440"/>
            <a:ext cx="237744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1,918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383280" y="4389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to Drop Off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352044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3520440"/>
            <a:ext cx="23774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3,549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309360" y="4389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Bikes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Redistribute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INACTION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Citi Bike performs no overnight rebalancing, the system faces significant morning service degradation: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657600" cy="256032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36576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trip revenue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$4.50/trip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dissatisfaction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$2.00/trip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damage multiplier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063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opportunity cost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$7,494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600200"/>
            <a:ext cx="3840480" cy="256032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600200"/>
            <a:ext cx="38404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$7,494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2920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$225K / month    |    $2.7M / year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costs include lost revenue from empty/full stations, customer churn risk, and competitive brand damage from unreliable service.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 ASSUMPTIONS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capacity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bikes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 / truck / night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 / mile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$35/hr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multiplier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 (after 8 hrs)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 / gallon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MPG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977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mpg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TIMING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load/unload 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min/stop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overnight speed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mph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Dissatisfaction penalty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$2.00/trip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damage multiplier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window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AM – 5 AM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peak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3977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9 AM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solve the overnight rebalancing as a Vehicle Routing Problem (VRP) using a three-stage heuristic approach: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863840" cy="8686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64008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Clustering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are sorted by longitude and divided into equal-size geographic zones — one per truck. This ensures spatial compactness and minimizes cross-city driving.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7863840" cy="8686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51760"/>
            <a:ext cx="64008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TSP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cluster, we construct an initial route using a greedy nearest-neighbor heuristic: always visit the closest unvisited station next. Pickups are sequenced before drop-offs.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64008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Improvement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06908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route is refined using the 2-opt local search: iteratively reversing sub-tours to eliminate crossings and reduce total mileage, up to 100 iterations per route.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TRUCK ROUTES</a:t>
            </a:r>
            <a:endParaRPr lang="en-US" sz="2800" dirty="0"/>
          </a:p>
        </p:txBody>
      </p:sp>
      <p:pic>
        <p:nvPicPr>
          <p:cNvPr id="5" name="Image 0" descr="/sessions/relaxed-tender-sagan/mnt/nyu-dma-citibike/figures/04_optimal_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3760261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1051560"/>
            <a:ext cx="3840480" cy="32004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4-TRUCK SOLUTION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1208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stops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95160" y="1600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 mi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$1,391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1208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stops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95160" y="2057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 mi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1208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stops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95160" y="2514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 mi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$1,393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1208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2648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stops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95160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 mi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212080" y="3337560"/>
            <a:ext cx="347472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365 stops, 69.6 miles, $5,593/night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1208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workload across all 4 trucks with geographic clustering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TRUCK COUNT SWEEP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sweep truck counts from 1 to 8 to understand the cost-service tradeoff — analogous to a SolverTable sensitivity analysis: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109728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600200"/>
            <a:ext cx="164592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600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Cost/Night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600200"/>
            <a:ext cx="137160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00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164592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00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1947672"/>
            <a:ext cx="109728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947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1947672"/>
            <a:ext cx="164592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947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$4,614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1947672"/>
            <a:ext cx="137160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947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 mi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1947672"/>
            <a:ext cx="164592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947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2295144"/>
            <a:ext cx="109728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295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0" y="2295144"/>
            <a:ext cx="16459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2951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$4,944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295144"/>
            <a:ext cx="13716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2951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 mi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2295144"/>
            <a:ext cx="16459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2951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2642616"/>
            <a:ext cx="109728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26426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0" y="2642616"/>
            <a:ext cx="164592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$5,263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2642616"/>
            <a:ext cx="137160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2642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 mi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2642616"/>
            <a:ext cx="164592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" y="2990088"/>
            <a:ext cx="109728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2990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0" y="2990088"/>
            <a:ext cx="16459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29900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$5,593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0" y="2990088"/>
            <a:ext cx="13716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2990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 mi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2990088"/>
            <a:ext cx="16459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29900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4400" y="3337560"/>
            <a:ext cx="109728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3337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011680" y="3337560"/>
            <a:ext cx="164592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3337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$5,906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0" y="3337560"/>
            <a:ext cx="137160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 mi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0" y="3337560"/>
            <a:ext cx="164592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337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14400" y="3685032"/>
            <a:ext cx="109728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3685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011680" y="3685032"/>
            <a:ext cx="16459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3685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$6,221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57600" y="3685032"/>
            <a:ext cx="13716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0" y="36850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 mi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29200" y="3685032"/>
            <a:ext cx="16459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3685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14400" y="4032504"/>
            <a:ext cx="109728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4032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011680" y="4032504"/>
            <a:ext cx="164592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40325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$6,585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0" y="4032504"/>
            <a:ext cx="137160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0" y="40325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 mi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029200" y="4032504"/>
            <a:ext cx="1645920" cy="347472"/>
          </a:xfrm>
          <a:prstGeom prst="rect">
            <a:avLst/>
          </a:prstGeom>
          <a:solidFill>
            <a:srgbClr val="111E33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40325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14400" y="4379976"/>
            <a:ext cx="109728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4400" y="43799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011680" y="4379976"/>
            <a:ext cx="16459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0" y="43799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$6,930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657600" y="4379976"/>
            <a:ext cx="13716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0" y="43799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 mi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029200" y="4379976"/>
            <a:ext cx="16459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32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0" y="43799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583680" y="1600200"/>
            <a:ext cx="219456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83680" y="1600200"/>
            <a:ext cx="21945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0" name="Text 78"/>
          <p:cNvSpPr/>
          <p:nvPr/>
        </p:nvSpPr>
        <p:spPr>
          <a:xfrm>
            <a:off x="667512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67512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truck captures 95.8% service at minimum cost. Each additional truck adds ~$330/night for &lt; 0.1% service gain.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 CARLO SIMULATION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5,000 stochastic trials to capture the uncertainty in real-world demand. Each trial samples from fitted Poisson distributions with random weather effects (rain reduces demand 20–40%) and day-of-week multipliers.</a:t>
            </a:r>
            <a:endParaRPr lang="en-US" sz="1200" dirty="0"/>
          </a:p>
        </p:txBody>
      </p:sp>
      <p:pic>
        <p:nvPicPr>
          <p:cNvPr id="6" name="Image 0" descr="/sessions/relaxed-tender-sagan/mnt/nyu-dma-citibike/figures/05_simulati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5634" y="1691640"/>
            <a:ext cx="3892731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output: service level distribution, cost distribution, net benefit histogram, and unmet trip analysis across 5,000 trials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37744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90.4%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Service Level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188720"/>
            <a:ext cx="23774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$3,526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Net Benefit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Night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377440" cy="137160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88720"/>
            <a:ext cx="237744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74.1%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Net Benefit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2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2024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-$1,757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$1,884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8056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$4,655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6072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$6,289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$8,013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FRONTIER</a:t>
            </a:r>
            <a:endParaRPr lang="en-US" sz="2800" dirty="0"/>
          </a:p>
        </p:txBody>
      </p:sp>
      <p:pic>
        <p:nvPicPr>
          <p:cNvPr id="5" name="Image 0" descr="/sessions/relaxed-tender-sagan/mnt/nyu-dma-citibike/figures/06_efficient_fron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401" y="1051560"/>
            <a:ext cx="5033199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efficient frontier maps the cost-service tradeoff across fleet sizes. Diminishing returns are steep: moving from 1 to 2 trucks costs $330/night but improves service by &lt; 0.1%. The knee of the curve suggests 1–2 trucks capture nearly all achievable benefit.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ANALYSIS</a:t>
            </a:r>
            <a:endParaRPr lang="en-US" sz="2800" dirty="0"/>
          </a:p>
        </p:txBody>
      </p:sp>
      <p:pic>
        <p:nvPicPr>
          <p:cNvPr id="5" name="Image 0" descr="/sessions/relaxed-tender-sagan/mnt/nyu-dma-citibike/figures/07_sensitivity_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735" y="1051560"/>
            <a:ext cx="4784531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66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 diagrams reveal the parameters with greatest impact on net benefit. Truck capacity and fuel cost dominate — a fleet of higher-capacity trucks would dramatically shift the economics. Driver wages and variable mileage costs are secondary drivers.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4206240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varied ±20% from base case while holding others constant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11E33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1–2 rebalancing trucks nightly as a cost-effective starting point, with a phased scale-up based on observed service improvements.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truck achieves 95.8% service level at $4,614/night — the most efficient point on the cost curve. The Monte Carlo simulation confirms a 74% probability of positive net benefit at 4 trucks ($3,526/night average), providing a clear upper bound for scaling.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Lean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1 truck targeting the highest-deficit stations. At $4,614/night, this is the minimum viable rebalancing operation with near-maximum service coverage.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Scale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actual morning availability improvements and rider satisfaction. If empirical service gains exceed model predictions, expand to 2–3 trucks.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Capacity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3192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shows truck capacity is the dominant cost driver. Upgrading from 20 to 25-bike trucks would improve economics more than adding fleet units.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48056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dock status (GBFS feed) to enable adaptive routing — rerouting trucks mid-shift based on actual overnight usage patterns.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914400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routing (NN + 2-opt) provides good but not provably optimal solutions — exact MIP formulations could improve by 5-15%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89888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model uses aggregate estimates; micro-level rider behavior data (churn rates, substitution patterns) would refine the business case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6537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865376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overnight rebalancing only — does not account for dynamic intra-day repositioning or e-bike/scooter substitution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4086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340864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effects modeled as simple demand multipliers; a richer model would incorporate temperature, precipitation intensity, and seasonal daylight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1635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816352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capacity treated as fixed — future work could optimize dock expansions jointly with rebalancing operations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7863840" cy="4572"/>
          </a:xfrm>
          <a:prstGeom prst="rect">
            <a:avLst/>
          </a:prstGeom>
          <a:solidFill>
            <a:srgbClr val="1E32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Garofalo  |  paulgarofalo05@gmail.com  |  NYU Stern Spring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 Bike Overnight Rebalancing Optimization</dc:title>
  <dc:subject>PptxGenJS Presentation</dc:subject>
  <dc:creator>Paul Garofalo</dc:creator>
  <cp:lastModifiedBy>Paul Garofalo</cp:lastModifiedBy>
  <cp:revision>1</cp:revision>
  <dcterms:created xsi:type="dcterms:W3CDTF">2026-04-04T13:37:48Z</dcterms:created>
  <dcterms:modified xsi:type="dcterms:W3CDTF">2026-04-04T13:37:48Z</dcterms:modified>
</cp:coreProperties>
</file>